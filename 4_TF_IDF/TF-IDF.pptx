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0"/>
  </p:notesMasterIdLst>
  <p:sldIdLst>
    <p:sldId id="256" r:id="rId2"/>
    <p:sldId id="262" r:id="rId3"/>
    <p:sldId id="276" r:id="rId4"/>
    <p:sldId id="308" r:id="rId5"/>
    <p:sldId id="309" r:id="rId6"/>
    <p:sldId id="312" r:id="rId7"/>
    <p:sldId id="310" r:id="rId8"/>
    <p:sldId id="270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Sora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54839E-159E-462B-9629-698303DF4AB8}">
  <a:tblStyle styleId="{F254839E-159E-462B-9629-698303DF4A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1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d1bf8d60a4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d1bf8d60a4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997341AD-C293-1094-BE8C-7C452781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79909BA2-F121-E2A3-80A2-2ADE5652C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BEEB4567-A33A-D2E8-5B53-8B96D48F0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7772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A0ED7883-B6FF-600E-733F-65ADCBC6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89B1EA36-4F5D-1C61-D8BF-8832EE2D9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7A57B8D5-8F56-EEE1-D9FF-F1F8E84DA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821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844335B3-2FD8-FDAB-9B63-657EE2D25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C35B2B10-CFC6-27AA-25B6-CA6E16282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FEC4EB94-58EF-05DD-FE42-D090E619C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149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8F9176DA-5604-2F69-3A02-7D1A5B22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14FCCA86-2EB7-2D9E-479E-1766EB365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07A67133-CE90-E302-B860-36355FE7E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796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" name="Google Shape;64;p6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8" r:id="rId5"/>
    <p:sldLayoutId id="2147483662" r:id="rId6"/>
    <p:sldLayoutId id="2147483674" r:id="rId7"/>
    <p:sldLayoutId id="214748367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D" dirty="0"/>
              <a:t>Natural Language Processing</a:t>
            </a:r>
            <a:endParaRPr dirty="0"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D" dirty="0" err="1"/>
              <a:t>Transformasi</a:t>
            </a:r>
            <a:r>
              <a:rPr lang="en-ID" dirty="0"/>
              <a:t> Bahasa </a:t>
            </a:r>
            <a:r>
              <a:rPr lang="en-ID" dirty="0" err="1"/>
              <a:t>ke</a:t>
            </a:r>
            <a:r>
              <a:rPr lang="en-ID" dirty="0"/>
              <a:t> Vektor</a:t>
            </a:r>
            <a:endParaRPr dirty="0"/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"/>
          <p:cNvSpPr txBox="1">
            <a:spLocks noGrp="1"/>
          </p:cNvSpPr>
          <p:nvPr>
            <p:ph type="title"/>
          </p:nvPr>
        </p:nvSpPr>
        <p:spPr>
          <a:xfrm>
            <a:off x="844661" y="1212602"/>
            <a:ext cx="4887892" cy="5604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Pengertian NLP</a:t>
            </a:r>
            <a:endParaRPr sz="2400" dirty="0"/>
          </a:p>
        </p:txBody>
      </p:sp>
      <p:sp>
        <p:nvSpPr>
          <p:cNvPr id="532" name="Google Shape;532;p39"/>
          <p:cNvSpPr txBox="1">
            <a:spLocks noGrp="1"/>
          </p:cNvSpPr>
          <p:nvPr>
            <p:ph type="subTitle" idx="1"/>
          </p:nvPr>
        </p:nvSpPr>
        <p:spPr>
          <a:xfrm>
            <a:off x="920399" y="1954055"/>
            <a:ext cx="4371300" cy="18956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D" sz="2000" dirty="0"/>
              <a:t>Cabang </a:t>
            </a:r>
            <a:r>
              <a:rPr lang="en-ID" sz="2000" dirty="0" err="1"/>
              <a:t>dari</a:t>
            </a:r>
            <a:r>
              <a:rPr lang="en-ID" sz="2000" dirty="0"/>
              <a:t> Artificial Intelligence yang </a:t>
            </a:r>
            <a:r>
              <a:rPr lang="en-ID" sz="2000" dirty="0" err="1"/>
              <a:t>memungkinkan</a:t>
            </a:r>
            <a:r>
              <a:rPr lang="en-ID" sz="2000" dirty="0"/>
              <a:t> </a:t>
            </a:r>
            <a:r>
              <a:rPr lang="en-ID" sz="2000" dirty="0" err="1"/>
              <a:t>komputer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memahami</a:t>
            </a:r>
            <a:r>
              <a:rPr lang="en-ID" sz="2000" dirty="0"/>
              <a:t>, </a:t>
            </a:r>
            <a:r>
              <a:rPr lang="en-ID" sz="2000" dirty="0" err="1"/>
              <a:t>mengolah</a:t>
            </a:r>
            <a:r>
              <a:rPr lang="en-ID" sz="2000" dirty="0"/>
              <a:t>, dan </a:t>
            </a:r>
            <a:r>
              <a:rPr lang="en-ID" sz="2000" dirty="0" err="1"/>
              <a:t>menganalisis</a:t>
            </a:r>
            <a:r>
              <a:rPr lang="en-ID" sz="2000" dirty="0"/>
              <a:t> </a:t>
            </a:r>
            <a:r>
              <a:rPr lang="en-ID" sz="2000" dirty="0" err="1"/>
              <a:t>bahasa</a:t>
            </a:r>
            <a:r>
              <a:rPr lang="en-ID" sz="2000" dirty="0"/>
              <a:t> </a:t>
            </a:r>
            <a:r>
              <a:rPr lang="en-ID" sz="2000" dirty="0" err="1"/>
              <a:t>manusia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</a:t>
            </a:r>
            <a:r>
              <a:rPr lang="en-ID" sz="2000" dirty="0" err="1"/>
              <a:t>teks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suara</a:t>
            </a:r>
            <a:r>
              <a:rPr lang="en-ID" sz="2000" dirty="0"/>
              <a:t>.</a:t>
            </a:r>
            <a:endParaRPr sz="2000" dirty="0"/>
          </a:p>
        </p:txBody>
      </p:sp>
      <p:grpSp>
        <p:nvGrpSpPr>
          <p:cNvPr id="533" name="Google Shape;533;p39"/>
          <p:cNvGrpSpPr/>
          <p:nvPr/>
        </p:nvGrpSpPr>
        <p:grpSpPr>
          <a:xfrm>
            <a:off x="5824825" y="1527650"/>
            <a:ext cx="2854173" cy="2794752"/>
            <a:chOff x="5824825" y="1527650"/>
            <a:chExt cx="2854173" cy="2794752"/>
          </a:xfrm>
        </p:grpSpPr>
        <p:sp>
          <p:nvSpPr>
            <p:cNvPr id="534" name="Google Shape;534;p39"/>
            <p:cNvSpPr/>
            <p:nvPr/>
          </p:nvSpPr>
          <p:spPr>
            <a:xfrm>
              <a:off x="6851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7477175" y="4122900"/>
              <a:ext cx="1157331" cy="199500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5974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9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538" name="Google Shape;538;p39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219" extrusionOk="0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9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avLst/>
                <a:gdLst/>
                <a:ahLst/>
                <a:cxnLst/>
                <a:rect l="l" t="t" r="r" b="b"/>
                <a:pathLst>
                  <a:path w="7615" h="9634" extrusionOk="0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9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avLst/>
                <a:gdLst/>
                <a:ahLst/>
                <a:cxnLst/>
                <a:rect l="l" t="t" r="r" b="b"/>
                <a:pathLst>
                  <a:path w="13893" h="13894" extrusionOk="0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9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287" extrusionOk="0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9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avLst/>
                <a:gdLst/>
                <a:ahLst/>
                <a:cxnLst/>
                <a:rect l="l" t="t" r="r" b="b"/>
                <a:pathLst>
                  <a:path w="5940" h="7517" extrusionOk="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9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0826" extrusionOk="0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9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0" extrusionOk="0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9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64" extrusionOk="0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9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364" extrusionOk="0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9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63" extrusionOk="0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9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363" extrusionOk="0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9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3" extrusionOk="0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9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364" extrusionOk="0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9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64" extrusionOk="0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9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33097" extrusionOk="0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9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4392" extrusionOk="0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9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avLst/>
                <a:gdLst/>
                <a:ahLst/>
                <a:cxnLst/>
                <a:rect l="l" t="t" r="r" b="b"/>
                <a:pathLst>
                  <a:path w="16201" h="34806" extrusionOk="0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9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26996" extrusionOk="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avLst/>
                <a:gdLst/>
                <a:ahLst/>
                <a:cxnLst/>
                <a:rect l="l" t="t" r="r" b="b"/>
                <a:pathLst>
                  <a:path w="10215" h="13427" extrusionOk="0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avLst/>
                <a:gdLst/>
                <a:ahLst/>
                <a:cxnLst/>
                <a:rect l="l" t="t" r="r" b="b"/>
                <a:pathLst>
                  <a:path w="5317" h="8597" extrusionOk="0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avLst/>
                <a:gdLst/>
                <a:ahLst/>
                <a:cxnLst/>
                <a:rect l="l" t="t" r="r" b="b"/>
                <a:pathLst>
                  <a:path w="20034" h="22617" extrusionOk="0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4449" extrusionOk="0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2298" extrusionOk="0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avLst/>
                <a:gdLst/>
                <a:ahLst/>
                <a:cxnLst/>
                <a:rect l="l" t="t" r="r" b="b"/>
                <a:pathLst>
                  <a:path w="16632" h="4979" extrusionOk="0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avLst/>
                <a:gdLst/>
                <a:ahLst/>
                <a:cxnLst/>
                <a:rect l="l" t="t" r="r" b="b"/>
                <a:pathLst>
                  <a:path w="17220" h="13784" extrusionOk="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avLst/>
                <a:gdLst/>
                <a:ahLst/>
                <a:cxnLst/>
                <a:rect l="l" t="t" r="r" b="b"/>
                <a:pathLst>
                  <a:path w="14187" h="9174" extrusionOk="0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047" extrusionOk="0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91" extrusionOk="0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232" extrusionOk="0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232" extrusionOk="0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4693" h="6176" extrusionOk="0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9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622" extrusionOk="0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9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7086" extrusionOk="0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9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4915" extrusionOk="0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9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4915" extrusionOk="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9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4886" extrusionOk="0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9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912" extrusionOk="0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9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1304" extrusionOk="0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9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14371" extrusionOk="0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9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1330" extrusionOk="0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9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4012" extrusionOk="0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9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3627" extrusionOk="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9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56" extrusionOk="0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9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815" extrusionOk="0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9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64" extrusionOk="0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9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383" extrusionOk="0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9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838" extrusionOk="0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10009" extrusionOk="0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9951" extrusionOk="0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9721" extrusionOk="0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314" extrusionOk="0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9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7235" extrusionOk="0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9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6372" extrusionOk="0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9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911" extrusionOk="0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9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6176" extrusionOk="0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9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4576" extrusionOk="0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890" extrusionOk="0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6176" extrusionOk="0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1287" extrusionOk="0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avLst/>
                <a:gdLst/>
                <a:ahLst/>
                <a:cxnLst/>
                <a:rect l="l" t="t" r="r" b="b"/>
                <a:pathLst>
                  <a:path w="20575" h="20569" extrusionOk="0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NLP Flow</a:t>
            </a:r>
            <a:endParaRPr dirty="0"/>
          </a:p>
        </p:txBody>
      </p:sp>
      <p:sp>
        <p:nvSpPr>
          <p:cNvPr id="977" name="Google Shape;977;p53"/>
          <p:cNvSpPr txBox="1"/>
          <p:nvPr/>
        </p:nvSpPr>
        <p:spPr>
          <a:xfrm>
            <a:off x="804221" y="1412400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Raw Text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0" name="Google Shape;980;p53"/>
          <p:cNvSpPr txBox="1"/>
          <p:nvPr/>
        </p:nvSpPr>
        <p:spPr>
          <a:xfrm>
            <a:off x="6085200" y="1873325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1" name="Google Shape;981;p53"/>
          <p:cNvSpPr txBox="1"/>
          <p:nvPr/>
        </p:nvSpPr>
        <p:spPr>
          <a:xfrm>
            <a:off x="6085200" y="1412400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Preprocessing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53"/>
          <p:cNvSpPr txBox="1"/>
          <p:nvPr/>
        </p:nvSpPr>
        <p:spPr>
          <a:xfrm>
            <a:off x="34026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5" name="Google Shape;985;p53"/>
          <p:cNvSpPr txBox="1"/>
          <p:nvPr/>
        </p:nvSpPr>
        <p:spPr>
          <a:xfrm>
            <a:off x="804221" y="3243543"/>
            <a:ext cx="23388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Pemodelan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6" name="Google Shape;986;p53"/>
          <p:cNvSpPr txBox="1"/>
          <p:nvPr/>
        </p:nvSpPr>
        <p:spPr>
          <a:xfrm>
            <a:off x="6085200" y="3704473"/>
            <a:ext cx="2338800" cy="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7" name="Google Shape;987;p53"/>
          <p:cNvSpPr txBox="1"/>
          <p:nvPr/>
        </p:nvSpPr>
        <p:spPr>
          <a:xfrm>
            <a:off x="5741400" y="3243543"/>
            <a:ext cx="26826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Pembobotan Kata</a:t>
            </a:r>
            <a:endParaRPr sz="2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988" name="Google Shape;988;p53"/>
          <p:cNvCxnSpPr>
            <a:cxnSpLocks/>
            <a:stCxn id="977" idx="3"/>
            <a:endCxn id="981" idx="1"/>
          </p:cNvCxnSpPr>
          <p:nvPr/>
        </p:nvCxnSpPr>
        <p:spPr>
          <a:xfrm>
            <a:off x="3143021" y="1641000"/>
            <a:ext cx="2942179" cy="12700"/>
          </a:xfrm>
          <a:prstGeom prst="bentConnector3">
            <a:avLst>
              <a:gd name="adj1" fmla="val -8887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0" name="Google Shape;990;p53"/>
          <p:cNvCxnSpPr>
            <a:cxnSpLocks/>
            <a:stCxn id="981" idx="2"/>
          </p:cNvCxnSpPr>
          <p:nvPr/>
        </p:nvCxnSpPr>
        <p:spPr>
          <a:xfrm rot="16200000" flipH="1">
            <a:off x="6567629" y="2556570"/>
            <a:ext cx="1373943" cy="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2" name="Google Shape;992;p53"/>
          <p:cNvCxnSpPr>
            <a:cxnSpLocks/>
            <a:stCxn id="985" idx="3"/>
            <a:endCxn id="987" idx="1"/>
          </p:cNvCxnSpPr>
          <p:nvPr/>
        </p:nvCxnSpPr>
        <p:spPr>
          <a:xfrm>
            <a:off x="3143021" y="3472143"/>
            <a:ext cx="2598379" cy="12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ADC2471-446F-4DB2-254D-2F2F473F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CE483DBE-AA11-233F-35D2-C0B77BCFA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Preprocessing</a:t>
            </a:r>
            <a:endParaRPr dirty="0"/>
          </a:p>
        </p:txBody>
      </p:sp>
      <p:pic>
        <p:nvPicPr>
          <p:cNvPr id="6" name="Picture 2" descr="The Complete Guide to Text Preprocessing in NLP | by Nishant Gupta | Medium">
            <a:extLst>
              <a:ext uri="{FF2B5EF4-FFF2-40B4-BE49-F238E27FC236}">
                <a16:creationId xmlns:a16="http://schemas.microsoft.com/office/drawing/2014/main" id="{AA7805D5-089F-4279-6A73-3E52B2F30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8" b="-1"/>
          <a:stretch>
            <a:fillRect/>
          </a:stretch>
        </p:blipFill>
        <p:spPr bwMode="auto">
          <a:xfrm>
            <a:off x="1046747" y="1292829"/>
            <a:ext cx="7050505" cy="340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38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223DC2A8-519F-7F93-B4A6-9F4DEA46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AA67F587-92C4-8C45-3797-43A705B1B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4581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Jenis-jenis Pembobotan Kata</a:t>
            </a:r>
            <a:endParaRPr dirty="0"/>
          </a:p>
        </p:txBody>
      </p:sp>
      <p:sp>
        <p:nvSpPr>
          <p:cNvPr id="2" name="Google Shape;532;p39">
            <a:extLst>
              <a:ext uri="{FF2B5EF4-FFF2-40B4-BE49-F238E27FC236}">
                <a16:creationId xmlns:a16="http://schemas.microsoft.com/office/drawing/2014/main" id="{0984EBB0-A5E0-5E7A-F4A1-0382B6AEC6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81305" y="1869834"/>
            <a:ext cx="7212948" cy="18956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indent="-457200" algn="l">
              <a:buAutoNum type="arabicPeriod"/>
            </a:pPr>
            <a:r>
              <a:rPr lang="en-ID" sz="2000" dirty="0"/>
              <a:t>Binary</a:t>
            </a:r>
          </a:p>
          <a:p>
            <a:pPr lvl="0" indent="-457200">
              <a:buAutoNum type="arabicPeriod"/>
            </a:pPr>
            <a:r>
              <a:rPr lang="en-ID" sz="2000" dirty="0"/>
              <a:t>TF-IDF (</a:t>
            </a:r>
            <a:r>
              <a:rPr lang="en-US" sz="2000" dirty="0"/>
              <a:t>Term Frequency – Inverse Document Frequency)</a:t>
            </a:r>
            <a:endParaRPr lang="en-ID" sz="2000" dirty="0"/>
          </a:p>
          <a:p>
            <a:pPr lvl="0" indent="-457200">
              <a:buAutoNum type="arabicPeriod"/>
            </a:pPr>
            <a:r>
              <a:rPr lang="en-ID" sz="2000" dirty="0"/>
              <a:t>TR-RF (Term Frequency – Relevance Frequency)</a:t>
            </a:r>
          </a:p>
          <a:p>
            <a:pPr lvl="0" indent="-457200">
              <a:buAutoNum type="arabicPeriod"/>
            </a:pPr>
            <a:r>
              <a:rPr lang="en-ID" sz="2000" dirty="0"/>
              <a:t>TF-ICF (</a:t>
            </a:r>
            <a:r>
              <a:rPr lang="en-US" sz="2000" dirty="0"/>
              <a:t>Term Frequency – Inverse Category Frequency)</a:t>
            </a:r>
            <a:endParaRPr lang="en-ID" sz="2000" dirty="0"/>
          </a:p>
          <a:p>
            <a:pPr lvl="0" indent="-457200">
              <a:buAutoNum type="arabicPeriod"/>
            </a:pPr>
            <a:r>
              <a:rPr lang="en-ID" sz="2000" dirty="0"/>
              <a:t>TF-ABS (</a:t>
            </a:r>
            <a:r>
              <a:rPr lang="en-US" sz="2000" dirty="0"/>
              <a:t>Term Frequency – Absolute Frequency Scaling)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42872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8F760702-2B31-A1E7-8517-AEDBCBCE2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2B0B7FEB-C1F3-0282-03CC-2A4212467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TF-IDF</a:t>
            </a:r>
            <a:endParaRPr dirty="0"/>
          </a:p>
        </p:txBody>
      </p:sp>
      <p:pic>
        <p:nvPicPr>
          <p:cNvPr id="2050" name="Picture 2" descr="TF-IDF: Term Frequency and Inverse Dense Frequency Techniques | Towards  Data Science">
            <a:extLst>
              <a:ext uri="{FF2B5EF4-FFF2-40B4-BE49-F238E27FC236}">
                <a16:creationId xmlns:a16="http://schemas.microsoft.com/office/drawing/2014/main" id="{A801A77E-D1A2-CD99-36BB-4C5864B7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03" y="1077885"/>
            <a:ext cx="3119699" cy="314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ext Vectorization: Term Frequency - Inverse Document Frequency (TFIDF) |  Towards Data Science">
            <a:extLst>
              <a:ext uri="{FF2B5EF4-FFF2-40B4-BE49-F238E27FC236}">
                <a16:creationId xmlns:a16="http://schemas.microsoft.com/office/drawing/2014/main" id="{EACC3AC2-30AB-90F1-BE05-46D891802A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" t="4769" r="2218" b="4619"/>
          <a:stretch>
            <a:fillRect/>
          </a:stretch>
        </p:blipFill>
        <p:spPr bwMode="auto">
          <a:xfrm>
            <a:off x="4062913" y="1077885"/>
            <a:ext cx="4083338" cy="203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551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0DA8B55-8C19-A268-94D3-D168D058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D01312BA-6A62-11DA-F646-F8EF36BA3C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149" y="1923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F137C-CEAE-7B75-8A54-212CCEED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08" t="13099" r="8326" b="6666"/>
          <a:stretch>
            <a:fillRect/>
          </a:stretch>
        </p:blipFill>
        <p:spPr>
          <a:xfrm>
            <a:off x="1756610" y="806116"/>
            <a:ext cx="4908885" cy="412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63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7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grpSp>
        <p:nvGrpSpPr>
          <p:cNvPr id="826" name="Google Shape;826;p47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827" name="Google Shape;827;p47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828" name="Google Shape;828;p47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8848" h="1987" extrusionOk="0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avLst/>
                <a:gdLst/>
                <a:ahLst/>
                <a:cxnLst/>
                <a:rect l="l" t="t" r="r" b="b"/>
                <a:pathLst>
                  <a:path w="32885" h="21633" extrusionOk="0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avLst/>
                <a:gdLst/>
                <a:ahLst/>
                <a:cxnLst/>
                <a:rect l="l" t="t" r="r" b="b"/>
                <a:pathLst>
                  <a:path w="32717" h="21467" extrusionOk="0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avLst/>
                <a:gdLst/>
                <a:ahLst/>
                <a:cxnLst/>
                <a:rect l="l" t="t" r="r" b="b"/>
                <a:pathLst>
                  <a:path w="29068" h="18106" extrusionOk="0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avLst/>
                <a:gdLst/>
                <a:ahLst/>
                <a:cxnLst/>
                <a:rect l="l" t="t" r="r" b="b"/>
                <a:pathLst>
                  <a:path w="41902" h="1595" extrusionOk="0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avLst/>
                <a:gdLst/>
                <a:ahLst/>
                <a:cxnLst/>
                <a:rect l="l" t="t" r="r" b="b"/>
                <a:pathLst>
                  <a:path w="42241" h="9244" extrusionOk="0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avLst/>
                <a:gdLst/>
                <a:ahLst/>
                <a:cxnLst/>
                <a:rect l="l" t="t" r="r" b="b"/>
                <a:pathLst>
                  <a:path w="34921" h="4420" extrusionOk="0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5" name="Google Shape;835;p47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836" name="Google Shape;836;p47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2" h="3764" extrusionOk="0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47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16" h="3770" extrusionOk="0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8" name="Google Shape;838;p47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avLst/>
                <a:gdLst/>
                <a:ahLst/>
                <a:cxnLst/>
                <a:rect l="l" t="t" r="r" b="b"/>
                <a:pathLst>
                  <a:path w="12448" h="3258" extrusionOk="0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avLst/>
                <a:gdLst/>
                <a:ahLst/>
                <a:cxnLst/>
                <a:rect l="l" t="t" r="r" b="b"/>
                <a:pathLst>
                  <a:path w="12622" h="11914" extrusionOk="0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avLst/>
                <a:gdLst/>
                <a:ahLst/>
                <a:cxnLst/>
                <a:rect l="l" t="t" r="r" b="b"/>
                <a:pathLst>
                  <a:path w="6457" h="5209" extrusionOk="0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avLst/>
                <a:gdLst/>
                <a:ahLst/>
                <a:cxnLst/>
                <a:rect l="l" t="t" r="r" b="b"/>
                <a:pathLst>
                  <a:path w="12610" h="11913" extrusionOk="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5197" extrusionOk="0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13991" extrusionOk="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avLst/>
                <a:gdLst/>
                <a:ahLst/>
                <a:cxnLst/>
                <a:rect l="l" t="t" r="r" b="b"/>
                <a:pathLst>
                  <a:path w="9485" h="9750" extrusionOk="0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13180" extrusionOk="0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9957" extrusionOk="0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3489" extrusionOk="0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7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8495" extrusionOk="0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7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6095" extrusionOk="0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0" name="Google Shape;850;p47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851" name="Google Shape;851;p47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7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7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7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7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6" name="Google Shape;856;p47"/>
            <p:cNvSpPr/>
            <p:nvPr/>
          </p:nvSpPr>
          <p:spPr>
            <a:xfrm>
              <a:off x="8189731" y="2120047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7235030" y="2898432"/>
              <a:ext cx="259947" cy="259667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85</Words>
  <Application>Microsoft Office PowerPoint</Application>
  <PresentationFormat>On-screen Show (16:9)</PresentationFormat>
  <Paragraphs>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Lato</vt:lpstr>
      <vt:lpstr>Sora</vt:lpstr>
      <vt:lpstr>AI Essentials Workshop by Slidesgo</vt:lpstr>
      <vt:lpstr>Natural Language Processing</vt:lpstr>
      <vt:lpstr>Pengertian NLP</vt:lpstr>
      <vt:lpstr>NLP Flow</vt:lpstr>
      <vt:lpstr>Preprocessing</vt:lpstr>
      <vt:lpstr>Jenis-jenis Pembobotan Kata</vt:lpstr>
      <vt:lpstr>TF-IDF</vt:lpstr>
      <vt:lpstr>Code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Niansa Octavia</cp:lastModifiedBy>
  <cp:revision>4</cp:revision>
  <dcterms:modified xsi:type="dcterms:W3CDTF">2026-02-25T23:07:08Z</dcterms:modified>
</cp:coreProperties>
</file>